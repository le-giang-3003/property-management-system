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2D9751-47A9-E046-8BC0-04D0D29B14C2}" v="5" dt="2025-10-27T16:17:19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53"/>
    <p:restoredTop sz="79854"/>
  </p:normalViewPr>
  <p:slideViewPr>
    <p:cSldViewPr snapToGrid="0" snapToObjects="1">
      <p:cViewPr varScale="1">
        <p:scale>
          <a:sx n="128" d="100"/>
          <a:sy n="128" d="100"/>
        </p:scale>
        <p:origin x="168" y="1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Lai" userId="2a5147f875e28a6c" providerId="LiveId" clId="{A196B8D3-0F41-5880-89EE-3F6E5C586C5D}"/>
    <pc:docChg chg="modSld">
      <pc:chgData name="Hung Lai" userId="2a5147f875e28a6c" providerId="LiveId" clId="{A196B8D3-0F41-5880-89EE-3F6E5C586C5D}" dt="2025-10-27T16:14:57.438" v="52" actId="20577"/>
      <pc:docMkLst>
        <pc:docMk/>
      </pc:docMkLst>
      <pc:sldChg chg="modSp mod">
        <pc:chgData name="Hung Lai" userId="2a5147f875e28a6c" providerId="LiveId" clId="{A196B8D3-0F41-5880-89EE-3F6E5C586C5D}" dt="2025-10-27T14:41:03.275" v="12" actId="14100"/>
        <pc:sldMkLst>
          <pc:docMk/>
          <pc:sldMk cId="0" sldId="257"/>
        </pc:sldMkLst>
        <pc:spChg chg="mod">
          <ac:chgData name="Hung Lai" userId="2a5147f875e28a6c" providerId="LiveId" clId="{A196B8D3-0F41-5880-89EE-3F6E5C586C5D}" dt="2025-10-27T14:40:40.221" v="7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Hung Lai" userId="2a5147f875e28a6c" providerId="LiveId" clId="{A196B8D3-0F41-5880-89EE-3F6E5C586C5D}" dt="2025-10-27T14:41:03.275" v="12" actId="14100"/>
          <ac:spMkLst>
            <pc:docMk/>
            <pc:sldMk cId="0" sldId="257"/>
            <ac:spMk id="4" creationId="{00000000-0000-0000-0000-000000000000}"/>
          </ac:spMkLst>
        </pc:spChg>
      </pc:sldChg>
      <pc:sldChg chg="modNotesTx">
        <pc:chgData name="Hung Lai" userId="2a5147f875e28a6c" providerId="LiveId" clId="{A196B8D3-0F41-5880-89EE-3F6E5C586C5D}" dt="2025-10-27T16:14:57.438" v="52" actId="20577"/>
        <pc:sldMkLst>
          <pc:docMk/>
          <pc:sldMk cId="0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97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DELEGATES (Đại biểu/Ủy nhiệm): như con trỏ hàm trong C++</a:t>
            </a:r>
          </a:p>
          <a:p>
            <a:r>
              <a:rPr lang="vi-VN" b="1" dirty="0"/>
              <a:t>Khái niệm cơ bản:</a:t>
            </a:r>
          </a:p>
          <a:p>
            <a:r>
              <a:rPr lang="vi-VN" dirty="0"/>
              <a:t>Delegate giống như một "hợp đồng" hoặc "khuôn mẫu" cho các hàm. Nó định nghĩa:</a:t>
            </a:r>
          </a:p>
          <a:p>
            <a:r>
              <a:rPr lang="vi-VN" dirty="0"/>
              <a:t>Kiểu trả về (return type)</a:t>
            </a:r>
          </a:p>
          <a:p>
            <a:r>
              <a:rPr lang="vi-VN" dirty="0"/>
              <a:t>Các tham số đầu vào (parameters)</a:t>
            </a:r>
          </a:p>
          <a:p>
            <a:r>
              <a:rPr lang="vi-VN" b="1" dirty="0"/>
              <a:t>Tại sao cần Delegates?</a:t>
            </a:r>
          </a:p>
          <a:p>
            <a:r>
              <a:rPr lang="vi-VN" dirty="0"/>
              <a:t>Trong C#, bạn không thể truyền một hàm trực tiếp như một tham số. Delegates giải quyết vấn đề này bằng cách tạo một "con trỏ" trỏ đến hàm.</a:t>
            </a:r>
          </a:p>
          <a:p>
            <a:endParaRPr lang="vi-VN" dirty="0"/>
          </a:p>
          <a:p>
            <a:endParaRPr lang="vi-VN" dirty="0"/>
          </a:p>
          <a:p>
            <a:r>
              <a:rPr lang="vi-VN" b="1" dirty="0"/>
              <a:t>Observer Pattern</a:t>
            </a:r>
          </a:p>
          <a:p>
            <a:r>
              <a:rPr lang="vi-VN" b="1" dirty="0"/>
              <a:t>Định nghĩa:</a:t>
            </a:r>
          </a:p>
          <a:p>
            <a:r>
              <a:rPr lang="vi-VN" dirty="0"/>
              <a:t>Một đối tượng (Subject) tự động thông báo cho nhiều đối tượng khác (Observers) khi có sự kiện xảy ra, không cần biết họ là ai hay làm gì.</a:t>
            </a:r>
          </a:p>
          <a:p>
            <a:endParaRPr lang="vi-VN" dirty="0"/>
          </a:p>
          <a:p>
            <a:r>
              <a:rPr lang="vi-VN" b="1" dirty="0"/>
              <a:t>Subject (Người phát):</a:t>
            </a:r>
            <a:r>
              <a:rPr lang="vi-VN" dirty="0"/>
              <a:t> Chuông cửa </a:t>
            </a:r>
            <a:r>
              <a:rPr lang="vi-VN" b="1" dirty="0"/>
              <a:t>Observers (Người nhận):</a:t>
            </a:r>
            <a:r>
              <a:rPr lang="vi-VN" dirty="0"/>
              <a:t> Đèn, Chuông trong nhà, Camera </a:t>
            </a:r>
            <a:r>
              <a:rPr lang="vi-VN" b="1" dirty="0"/>
              <a:t>Event:</a:t>
            </a:r>
            <a:r>
              <a:rPr lang="vi-VN" dirty="0"/>
              <a:t> Nút chuông được bấm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đó bấm nút → Chuông cửa phát tín hiệu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↓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┌──────────┼──────────┐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↓          ↓          ↓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[Đèn]    [Chuông]   [Camera]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sáng       kêu        quay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vi-V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**2. Báo động cháy:**</a:t>
            </a:r>
          </a:p>
          <a:p>
            <a:pPr rtl="0" latinLnBrk="0"/>
            <a:endParaRPr lang="vi-V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**Subject:** Cảm biến khói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**Observers:** Còi, Vòi nước, Điện thoại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**Event:** Phát hiện khói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Khói xuất hiện → Cảm biến phát hiện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↓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┌──────────┼──────────┐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↓          ↓          ↓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[Còi]    [Vòi nước]  [Điện thoại]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hú         phun      gọi 114</a:t>
            </a:r>
          </a:p>
          <a:p>
            <a:pPr rtl="0" latinLnBrk="0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endParaRPr lang="vi-VN" dirty="0"/>
          </a:p>
          <a:p>
            <a:endParaRPr lang="vi-VN" dirty="0"/>
          </a:p>
          <a:p>
            <a:r>
              <a:rPr lang="vi-VN" b="1" dirty="0"/>
              <a:t>EVENT - Định nghĩa ngắn gọn:</a:t>
            </a:r>
          </a:p>
          <a:p>
            <a:r>
              <a:rPr lang="vi-VN" b="1" dirty="0"/>
              <a:t>Event = Delegate + Bảo mật</a:t>
            </a:r>
            <a:endParaRPr lang="vi-VN" dirty="0"/>
          </a:p>
          <a:p>
            <a:r>
              <a:rPr lang="vi-VN" b="1" dirty="0"/>
              <a:t>3 điểm cốt lõi:</a:t>
            </a:r>
          </a:p>
          <a:p>
            <a:r>
              <a:rPr lang="vi-VN" b="1" dirty="0"/>
              <a:t>Là gì?</a:t>
            </a:r>
            <a:r>
              <a:rPr lang="vi-VN" dirty="0"/>
              <a:t> </a:t>
            </a:r>
          </a:p>
          <a:p>
            <a:pPr lvl="1"/>
            <a:r>
              <a:rPr lang="vi-VN" dirty="0"/>
              <a:t>Cơ chế thông báo: "Có chuyện xảy ra → ai quan tâm thì phản ứng"</a:t>
            </a:r>
          </a:p>
          <a:p>
            <a:r>
              <a:rPr lang="vi-VN" b="1" dirty="0"/>
              <a:t>Khác Delegate?</a:t>
            </a:r>
            <a:r>
              <a:rPr lang="vi-VN" dirty="0"/>
              <a:t> </a:t>
            </a:r>
          </a:p>
          <a:p>
            <a:pPr lvl="1"/>
            <a:r>
              <a:rPr lang="vi-VN" dirty="0"/>
              <a:t>Delegate: Ai cũng có thể gọi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myDelegate.Invoke()</a:t>
            </a:r>
            <a:endParaRPr lang="vi-VN" dirty="0"/>
          </a:p>
          <a:p>
            <a:pPr lvl="1"/>
            <a:r>
              <a:rPr lang="vi-VN" dirty="0"/>
              <a:t>Event: </a:t>
            </a:r>
            <a:r>
              <a:rPr lang="vi-VN" b="1" dirty="0"/>
              <a:t>Chỉ class sở hữu</a:t>
            </a:r>
            <a:r>
              <a:rPr lang="vi-VN" dirty="0"/>
              <a:t> mới gọi được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myEvent.Invoke()</a:t>
            </a:r>
            <a:endParaRPr lang="vi-VN" dirty="0"/>
          </a:p>
          <a:p>
            <a:r>
              <a:rPr lang="vi-VN" b="1" dirty="0"/>
              <a:t>Tại sao dùng?</a:t>
            </a:r>
            <a:r>
              <a:rPr lang="vi-VN" dirty="0"/>
              <a:t> </a:t>
            </a:r>
          </a:p>
          <a:p>
            <a:pPr lvl="1"/>
            <a:r>
              <a:rPr lang="vi-VN" dirty="0"/>
              <a:t>Ngăn code bên ngoài "bắn" event bừa bãi</a:t>
            </a:r>
          </a:p>
          <a:p>
            <a:pPr lvl="1"/>
            <a:r>
              <a:rPr lang="vi-VN" dirty="0"/>
              <a:t>Rõ ràng: Class A phát → Class B,C,D nhận</a:t>
            </a:r>
          </a:p>
          <a:p>
            <a:endParaRPr lang="vi-V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1"/>
              <a:t>Coroutine</a:t>
            </a:r>
            <a:r>
              <a:rPr lang="vi-VN"/>
              <a:t> là một hàm đặc biệt cho phép </a:t>
            </a:r>
            <a:r>
              <a:rPr lang="vi-VN" b="1"/>
              <a:t>tạm dừng</a:t>
            </a:r>
            <a:r>
              <a:rPr lang="vi-VN"/>
              <a:t> và </a:t>
            </a:r>
            <a:r>
              <a:rPr lang="vi-VN" b="1"/>
              <a:t>tiếp tục</a:t>
            </a:r>
            <a:r>
              <a:rPr lang="vi-VN"/>
              <a:t> thực thi mà không làm </a:t>
            </a:r>
            <a:r>
              <a:rPr lang="vi-VN" b="1"/>
              <a:t>đóng băng (block)</a:t>
            </a:r>
            <a:r>
              <a:rPr lang="vi-VN"/>
              <a:t> toàn bộ chương trình.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134" y="1314450"/>
            <a:ext cx="7577733" cy="2514600"/>
          </a:xfrm>
          <a:prstGeom prst="roundRect">
            <a:avLst>
              <a:gd name="adj" fmla="val 303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73700" y="1771650"/>
            <a:ext cx="67965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Game với Unity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987677" y="2457450"/>
            <a:ext cx="51686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Scripting, Physics, Animation, UI &amp; Debugging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3700" y="3067050"/>
            <a:ext cx="679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5 - Tổng hợp kiến thức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8534400" cy="2457508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Nắm vững kỹ thuật scripting nâng cao với Events, Coroutines</a:t>
            </a:r>
            <a:endParaRPr lang="en-US" dirty="0"/>
          </a:p>
          <a:p>
            <a:pPr marL="95250" indent="-9525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vật lý trong Unity cho game mechanics</a:t>
            </a:r>
            <a:endParaRPr lang="en-US" dirty="0"/>
          </a:p>
          <a:p>
            <a:pPr marL="95250" indent="-9525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animation và UI cho dự án game</a:t>
            </a:r>
            <a:endParaRPr lang="en-US" dirty="0"/>
          </a:p>
          <a:p>
            <a:pPr marL="95250" indent="-9525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công cụ debugging hiệu quả</a:t>
            </a:r>
            <a:endParaRPr lang="en-US" dirty="0"/>
          </a:p>
          <a:p>
            <a:pPr marL="95250" indent="-9525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hóa hiệu năng game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Chính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262807"/>
            <a:ext cx="8534400" cy="1112490"/>
          </a:xfrm>
          <a:prstGeom prst="roundRect">
            <a:avLst>
              <a:gd name="adj" fmla="val 684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491407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1: Scripting &amp; Physics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1841897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Delegates, Coroutines, Physics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527697"/>
            <a:ext cx="8534400" cy="1112490"/>
          </a:xfrm>
          <a:prstGeom prst="roundRect">
            <a:avLst>
              <a:gd name="adj" fmla="val 6849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756297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2: Animation &amp; UI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3106787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System, UI Design, Integration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4800" y="3792587"/>
            <a:ext cx="8534400" cy="1112490"/>
          </a:xfrm>
          <a:prstGeom prst="roundRect">
            <a:avLst>
              <a:gd name="adj" fmla="val 684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4021187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3: Debugging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3400" y="4371677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Tools, Troubleshooting, Best Practices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và Delegates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8534400" cy="1113830"/>
          </a:xfrm>
          <a:prstGeom prst="roundRect">
            <a:avLst>
              <a:gd name="adj" fmla="val 684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557784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1908274"/>
            <a:ext cx="8238744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con trỏ hàm type-safe, cho phép truyền method như tham số và tạo callback mechanisms.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304800" y="2671614"/>
            <a:ext cx="8534400" cy="1381869"/>
          </a:xfrm>
          <a:prstGeom prst="roundRect">
            <a:avLst>
              <a:gd name="adj" fmla="val 551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900214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3250704"/>
            <a:ext cx="8238744" cy="53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Observer Pattern, cho phép objects subscribe/unsubscribe để nhận thông báo khi có hành động xảy ra.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04800" y="4282083"/>
            <a:ext cx="8534400" cy="594271"/>
          </a:xfrm>
          <a:prstGeom prst="roundRect">
            <a:avLst>
              <a:gd name="adj" fmla="val 12822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4472583"/>
            <a:ext cx="83941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OnPlayerDeath event - UI, AI, Sound có thể subscribe để thực hiện actions khi player chết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Coroutines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870508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Khái Niệm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1755874"/>
            <a:ext cx="8705088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phép thực thi bất đồng bộ, có thể tạm dừng và tiếp tục execution mà không block main thread.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304800" y="2252514"/>
            <a:ext cx="8534400" cy="1723579"/>
          </a:xfrm>
          <a:prstGeom prst="roundRect">
            <a:avLst>
              <a:gd name="adj" fmla="val 442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481114"/>
            <a:ext cx="823874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Chính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533400" y="2871192"/>
            <a:ext cx="8077200" cy="876300"/>
          </a:xfrm>
          <a:prstGeom prst="rect">
            <a:avLst/>
          </a:prstGeom>
          <a:noFill/>
          <a:ln/>
        </p:spPr>
        <p:txBody>
          <a:bodyPr wrap="square" lIns="83820" tIns="0" rIns="0" bIns="0" rtlCol="0" anchor="t"/>
          <a:lstStyle/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 mượt mà và timed events</a:t>
            </a:r>
            <a:endParaRPr lang="en-US" sz="1350" dirty="0"/>
          </a:p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generation</a:t>
            </a:r>
            <a:endParaRPr lang="en-US" sz="1350" dirty="0"/>
          </a:p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chuyển objects theo thời gian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53783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Physics Engine (NVIDIA PhysX)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2692301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1049" y="1557784"/>
            <a:ext cx="2279803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Rigidbody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511049" y="1917353"/>
            <a:ext cx="2279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GameObject chịu ảnh hưởng bởi gravity và force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25701" y="1329184"/>
            <a:ext cx="2692450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31948" y="1557784"/>
            <a:ext cx="2279955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Collider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3431948" y="1917353"/>
            <a:ext cx="2279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vùng collision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6750" y="1329184"/>
            <a:ext cx="2692301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2999" y="1557784"/>
            <a:ext cx="2279803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Materials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6352999" y="1917353"/>
            <a:ext cx="2279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soát bounciness và friction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800" y="2946053"/>
            <a:ext cx="8534400" cy="767953"/>
          </a:xfrm>
          <a:prstGeom prst="roundRect">
            <a:avLst>
              <a:gd name="adj" fmla="val 9922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2628" y="3212753"/>
            <a:ext cx="8238744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ích: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Tự động hóa physical behaviors, tạo game mechanics realistic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Physics - Layering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870508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Layering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1755874"/>
            <a:ext cx="8705088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các objects vào layers để kiểm soát collision interactions.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304800" y="2252514"/>
            <a:ext cx="8534400" cy="1723579"/>
          </a:xfrm>
          <a:prstGeom prst="roundRect">
            <a:avLst>
              <a:gd name="adj" fmla="val 442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481114"/>
            <a:ext cx="823874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Ích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533400" y="2871192"/>
            <a:ext cx="8077200" cy="876300"/>
          </a:xfrm>
          <a:prstGeom prst="rect">
            <a:avLst/>
          </a:prstGeom>
          <a:noFill/>
          <a:ln/>
        </p:spPr>
        <p:txBody>
          <a:bodyPr wrap="square" lIns="83820" tIns="0" rIns="0" bIns="0" rtlCol="0" anchor="t"/>
          <a:lstStyle/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năng tốt hơn: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Giảm collision checks không cần thiết</a:t>
            </a:r>
            <a:endParaRPr lang="en-US" sz="1350" dirty="0"/>
          </a:p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soát tốt: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Ngăn collisions không mong muốn</a:t>
            </a:r>
            <a:endParaRPr lang="en-US" sz="1350" dirty="0"/>
          </a:p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đơn giản: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Cấu trúc rõ ràng, dễ maintain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4800" y="4204692"/>
            <a:ext cx="8534400" cy="647700"/>
          </a:xfrm>
          <a:prstGeom prst="roundRect">
            <a:avLst>
              <a:gd name="adj" fmla="val 11765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4395192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dụ: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Physics.IgnoreLayerCollision(playerLayer, enemyLayer);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Animation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557784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Clips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533400" y="191735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chứa keyframe data cho các movement/actions cụ thể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86300" y="1329184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14900" y="1557784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Animator Controller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4914900" y="191735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quản lý transitions giữa các animation states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800" y="2869853"/>
            <a:ext cx="4152900" cy="1083469"/>
          </a:xfrm>
          <a:prstGeom prst="roundRect">
            <a:avLst>
              <a:gd name="adj" fmla="val 703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3098453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Animator Component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533400" y="345802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animations lên GameObjects tại 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6300" y="2869853"/>
            <a:ext cx="4152900" cy="1083469"/>
          </a:xfrm>
          <a:prstGeom prst="roundRect">
            <a:avLst>
              <a:gd name="adj" fmla="val 703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0" y="3098453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Window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4914900" y="345802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editor để tạo và chỉnh sửa animations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Animation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405384"/>
            <a:ext cx="8534400" cy="930771"/>
          </a:xfrm>
          <a:prstGeom prst="roundRect">
            <a:avLst>
              <a:gd name="adj" fmla="val 818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7561" y="1588145"/>
            <a:ext cx="833225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60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 Animation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487561" y="1902023"/>
            <a:ext cx="83322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key poses tại frames - Kiểm soát chính xác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800" y="2518916"/>
            <a:ext cx="8534400" cy="930771"/>
          </a:xfrm>
          <a:prstGeom prst="roundRect">
            <a:avLst>
              <a:gd name="adj" fmla="val 818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561" y="2701677"/>
            <a:ext cx="833225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60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 Trees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487561" y="3015555"/>
            <a:ext cx="83322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 mượt dựa trên parameters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800" y="3632448"/>
            <a:ext cx="8534400" cy="930771"/>
          </a:xfrm>
          <a:prstGeom prst="roundRect">
            <a:avLst>
              <a:gd name="adj" fmla="val 818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561" y="3815209"/>
            <a:ext cx="833225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60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Events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87561" y="4129088"/>
            <a:ext cx="83322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actions tại điểm cụ thể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Design trong 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870508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&amp; UI Elements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1755874"/>
            <a:ext cx="8705088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là container chính cho tất cả UI elements (Buttons, Text, Images, Panels)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304800" y="2252514"/>
            <a:ext cx="8534400" cy="2028379"/>
          </a:xfrm>
          <a:prstGeom prst="roundRect">
            <a:avLst>
              <a:gd name="adj" fmla="val 375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481114"/>
            <a:ext cx="823874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Thiết Kế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533400" y="2871192"/>
            <a:ext cx="8077200" cy="1181100"/>
          </a:xfrm>
          <a:prstGeom prst="rect">
            <a:avLst/>
          </a:prstGeom>
          <a:noFill/>
          <a:ln/>
        </p:spPr>
        <p:txBody>
          <a:bodyPr wrap="square" lIns="83820" tIns="0" rIns="0" bIns="0" rtlCol="0" anchor="t"/>
          <a:lstStyle/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UI phải rõ ràng, dễ hiểu</a:t>
            </a:r>
            <a:endParaRPr lang="en-US" sz="1350" dirty="0"/>
          </a:p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Giữ style đồng nhất</a:t>
            </a:r>
            <a:endParaRPr lang="en-US" sz="1350" dirty="0"/>
          </a:p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Phản hồi rõ ràng với user actions</a:t>
            </a:r>
            <a:endParaRPr lang="en-US" sz="1350" dirty="0"/>
          </a:p>
          <a:p>
            <a:pPr marL="83820" indent="-8382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Dễ sử dụng cho mọi người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UI với Gameplay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557784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 (Heads-Up Display)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533400" y="191735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health bars, score, ammo, minimap - Cập nhật real-time theo game 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86300" y="1329184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14900" y="1557784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4914900" y="191735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menu, pause menu, settings menu - Điều hướng giữa các scenes/states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800" y="2869853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3098453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Elements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533400" y="3458021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Buttons, sliders, input fields - Xử lý user input và events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6300" y="2869853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0" y="3098453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Systems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4914900" y="3458021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Notifications, tooltips, animations - Cải thiện user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Loại Bugs Thường Gặp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557784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Errors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533400" y="191735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cú pháp ngăn compilation (missing semicolons, parentheses)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86300" y="1329184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14900" y="1557784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Errors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4914900" y="191735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logic gây hành vi không mong muốn - Khó phát hiện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800" y="2869853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3098453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Errors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533400" y="3458021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Xảy ra khi chạy (NullReference, DivideByZero exceptions)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6300" y="2869853"/>
            <a:ext cx="4152900" cy="1312069"/>
          </a:xfrm>
          <a:prstGeom prst="roundRect">
            <a:avLst>
              <a:gd name="adj" fmla="val 580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0" y="3098453"/>
            <a:ext cx="37696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spcAft>
                <a:spcPts val="960"/>
              </a:spcAft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Issues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4914900" y="345802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không hiệu quả ảnh hưởng game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75088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 Debugging trong 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252984"/>
            <a:ext cx="8534400" cy="810667"/>
          </a:xfrm>
          <a:prstGeom prst="roundRect">
            <a:avLst>
              <a:gd name="adj" fmla="val 940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05384"/>
            <a:ext cx="8394192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360"/>
              </a:spcAft>
              <a:buNone/>
            </a:pPr>
            <a:r>
              <a:rPr lang="en-US" sz="144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Window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7200" y="1670447"/>
            <a:ext cx="839419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Debug.Log(), LogWarning(), LogError()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304800" y="2170212"/>
            <a:ext cx="8534400" cy="810667"/>
          </a:xfrm>
          <a:prstGeom prst="roundRect">
            <a:avLst>
              <a:gd name="adj" fmla="val 940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322612"/>
            <a:ext cx="8394192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360"/>
              </a:spcAft>
              <a:buNone/>
            </a:pPr>
            <a:r>
              <a:rPr lang="en-US" sz="144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Window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57200" y="2587675"/>
            <a:ext cx="839419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properties real-time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304800" y="3087439"/>
            <a:ext cx="8534400" cy="810667"/>
          </a:xfrm>
          <a:prstGeom prst="roundRect">
            <a:avLst>
              <a:gd name="adj" fmla="val 940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239839"/>
            <a:ext cx="8394192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360"/>
              </a:spcAft>
              <a:buNone/>
            </a:pPr>
            <a:r>
              <a:rPr lang="en-US" sz="144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Debugger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57200" y="3504902"/>
            <a:ext cx="839419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Breakpoints, stepping, variables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04800" y="4004667"/>
            <a:ext cx="8534400" cy="810667"/>
          </a:xfrm>
          <a:prstGeom prst="roundRect">
            <a:avLst>
              <a:gd name="adj" fmla="val 940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4157067"/>
            <a:ext cx="8394192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360"/>
              </a:spcAft>
              <a:buNone/>
            </a:pPr>
            <a:r>
              <a:rPr lang="en-US" sz="144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Profiler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57200" y="4422130"/>
            <a:ext cx="839419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Debugging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8534400" cy="1485900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Statements: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Sử dụng Debug.Log() để track program flow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Breakpoints: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Tạm dừng execution để inspect variables và state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Variables: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Theo dõi giá trị variables khi code chạy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Through Code: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Chạy từng dòng để identify errors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Breakpoints: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Breakpoints chỉ trigger với điều kiện cụ thể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3119884"/>
            <a:ext cx="8534400" cy="767953"/>
          </a:xfrm>
          <a:prstGeom prst="roundRect">
            <a:avLst>
              <a:gd name="adj" fmla="val 9922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2628" y="3386584"/>
            <a:ext cx="8238744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Debug incrementally - Test code changes thường xuyên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Troubleshooting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329184"/>
            <a:ext cx="2692301" cy="1582638"/>
          </a:xfrm>
          <a:prstGeom prst="roundRect">
            <a:avLst>
              <a:gd name="adj" fmla="val 481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1049" y="1557784"/>
            <a:ext cx="22798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1049" y="1953964"/>
            <a:ext cx="22798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511049" y="2239714"/>
            <a:ext cx="227980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nghĩa rõ vấn đề và thu thập thông tin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3225701" y="1329184"/>
            <a:ext cx="2692450" cy="1582638"/>
          </a:xfrm>
          <a:prstGeom prst="roundRect">
            <a:avLst>
              <a:gd name="adj" fmla="val 481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31948" y="1557784"/>
            <a:ext cx="22799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31948" y="1953964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3431948" y="2239714"/>
            <a:ext cx="227995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- Truy nguồn gốc vấn đề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6146750" y="1329184"/>
            <a:ext cx="2692301" cy="1582638"/>
          </a:xfrm>
          <a:prstGeom prst="roundRect">
            <a:avLst>
              <a:gd name="adj" fmla="val 481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2999" y="1557784"/>
            <a:ext cx="22798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2999" y="1953964"/>
            <a:ext cx="22798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 Lập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6352999" y="2239714"/>
            <a:ext cx="227980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testing - Test từng component riêng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304800" y="3140422"/>
            <a:ext cx="2692301" cy="1582638"/>
          </a:xfrm>
          <a:prstGeom prst="roundRect">
            <a:avLst>
              <a:gd name="adj" fmla="val 4815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1049" y="3369022"/>
            <a:ext cx="22798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1049" y="3765203"/>
            <a:ext cx="22798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Quyết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511049" y="4050953"/>
            <a:ext cx="227980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solutions một cách có hệ thống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3225701" y="3140422"/>
            <a:ext cx="2692450" cy="1582638"/>
          </a:xfrm>
          <a:prstGeom prst="roundRect">
            <a:avLst>
              <a:gd name="adj" fmla="val 4815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31948" y="3369022"/>
            <a:ext cx="22799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31948" y="3765203"/>
            <a:ext cx="2279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3431948" y="4050953"/>
            <a:ext cx="227995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 và solutions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6146750" y="3140422"/>
            <a:ext cx="2692301" cy="1582638"/>
          </a:xfrm>
          <a:prstGeom prst="roundRect">
            <a:avLst>
              <a:gd name="adj" fmla="val 4815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2999" y="3369022"/>
            <a:ext cx="22798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2999" y="3765203"/>
            <a:ext cx="22798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6352999" y="4050953"/>
            <a:ext cx="2279803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kỹ lưỡng để confirm fix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Hiệu Năng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252984"/>
            <a:ext cx="4175820" cy="1537395"/>
          </a:xfrm>
          <a:prstGeom prst="roundRect">
            <a:avLst>
              <a:gd name="adj" fmla="val 495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7561" y="1435745"/>
            <a:ext cx="388650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87561" y="1731318"/>
            <a:ext cx="3810298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Profiler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CPU, GPU, memory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bottlenecks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3380" y="1252984"/>
            <a:ext cx="4175820" cy="1537395"/>
          </a:xfrm>
          <a:prstGeom prst="roundRect">
            <a:avLst>
              <a:gd name="adj" fmla="val 495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46141" y="1435745"/>
            <a:ext cx="388650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846141" y="1731318"/>
            <a:ext cx="3810298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draw calls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 culling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shaders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4800" y="2973139"/>
            <a:ext cx="4175820" cy="1537395"/>
          </a:xfrm>
          <a:prstGeom prst="roundRect">
            <a:avLst>
              <a:gd name="adj" fmla="val 495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561" y="3155900"/>
            <a:ext cx="388650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87561" y="3451473"/>
            <a:ext cx="3810298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layering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collider complexity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Timestep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380" y="2973139"/>
            <a:ext cx="4175820" cy="1537395"/>
          </a:xfrm>
          <a:prstGeom prst="roundRect">
            <a:avLst>
              <a:gd name="adj" fmla="val 495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6141" y="3155900"/>
            <a:ext cx="388650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0"/>
              </a:spcAft>
              <a:buNone/>
            </a:pPr>
            <a:r>
              <a:rPr lang="en-US" sz="144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846141" y="3451473"/>
            <a:ext cx="3810298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pooling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 compression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bundles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Tổng Hợp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252984"/>
            <a:ext cx="425933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960"/>
              </a:spcAft>
              <a:buNone/>
            </a:pPr>
            <a:r>
              <a:rPr lang="en-US" sz="144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304800" y="1594247"/>
            <a:ext cx="4175820" cy="1241822"/>
          </a:xfrm>
          <a:prstGeom prst="roundRect">
            <a:avLst>
              <a:gd name="adj" fmla="val 613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7561" y="1777008"/>
            <a:ext cx="3810298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cho communication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Coroutines cho async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modular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3380" y="1252984"/>
            <a:ext cx="425933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960"/>
              </a:spcAft>
              <a:buNone/>
            </a:pPr>
            <a:r>
              <a:rPr lang="en-US" sz="144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&amp; UI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4663380" y="1594247"/>
            <a:ext cx="4175820" cy="1241822"/>
          </a:xfrm>
          <a:prstGeom prst="roundRect">
            <a:avLst>
              <a:gd name="adj" fmla="val 613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141" y="1777008"/>
            <a:ext cx="3810298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 trees smooth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consistent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resolutions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4800" y="3018830"/>
            <a:ext cx="425933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960"/>
              </a:spcAft>
              <a:buNone/>
            </a:pPr>
            <a:r>
              <a:rPr lang="en-US" sz="144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304800" y="3360093"/>
            <a:ext cx="4175820" cy="1241822"/>
          </a:xfrm>
          <a:prstGeom prst="roundRect">
            <a:avLst>
              <a:gd name="adj" fmla="val 613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561" y="3542854"/>
            <a:ext cx="3810298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layering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Collider types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interactions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380" y="3018830"/>
            <a:ext cx="425933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960"/>
              </a:spcAft>
              <a:buNone/>
            </a:pPr>
            <a:r>
              <a:rPr lang="en-US" sz="144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4663380" y="3360093"/>
            <a:ext cx="4175820" cy="1241822"/>
          </a:xfrm>
          <a:prstGeom prst="roundRect">
            <a:avLst>
              <a:gd name="adj" fmla="val 613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6141" y="3542854"/>
            <a:ext cx="3810298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incrementally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issues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5784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" y="1481584"/>
            <a:ext cx="839419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Chính Cần Nhớ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152055"/>
            <a:ext cx="8229600" cy="1790700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 nâng cao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với Events, Coroutines giúp code modular và maintainable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Engine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tạo realistic game mechanics với Rigidbody, Colliders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System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mang lại trải nghiệm sống động cho game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Design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tốt cải thiện player experience đáng kể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skills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là nền tảng để build high-quality projects</a:t>
            </a:r>
            <a:endParaRPr lang="en-US" sz="1350" dirty="0"/>
          </a:p>
          <a:p>
            <a:pPr marL="91440" indent="-9144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đảm bảo game chạy mượt mà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1281</Words>
  <Application>Microsoft Macintosh PowerPoint</Application>
  <PresentationFormat>On-screen Show (16:9)</PresentationFormat>
  <Paragraphs>232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Phát Triển Game với Unity</dc:title>
  <dc:subject>Scripting, Physics, Animation, UI &amp; Debugging</dc:subject>
  <dc:creator>Unity Course - Module 5</dc:creator>
  <cp:lastModifiedBy>Hung Lai</cp:lastModifiedBy>
  <cp:revision>2</cp:revision>
  <dcterms:created xsi:type="dcterms:W3CDTF">2025-10-27T14:19:43Z</dcterms:created>
  <dcterms:modified xsi:type="dcterms:W3CDTF">2025-10-27T16:17:24Z</dcterms:modified>
</cp:coreProperties>
</file>